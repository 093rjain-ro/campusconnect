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71600"/>
            <a:ext cx="137160" cy="4114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0D4FF"/>
                </a:solidFill>
              </a:defRPr>
            </a:pPr>
            <a:r>
              <a:t>PROJECT 22</a:t>
            </a:r>
          </a:p>
          <a:p>
            <a:pPr>
              <a:spcAft>
                <a:spcPts val="2000"/>
              </a:spcAft>
              <a:defRPr sz="3800" b="1">
                <a:solidFill>
                  <a:srgbClr val="F0F6FC"/>
                </a:solidFill>
              </a:defRPr>
            </a:pPr>
            <a:r>
              <a:t>Campus Placement &amp; </a:t>
            </a:r>
            <a:br/>
            <a:r>
              <a:t>Recruitment Drive Management System</a:t>
            </a:r>
          </a:p>
          <a:p>
            <a:pPr>
              <a:spcAft>
                <a:spcPts val="2400"/>
              </a:spcAft>
              <a:defRPr sz="1600">
                <a:solidFill>
                  <a:srgbClr val="8B949E"/>
                </a:solidFill>
              </a:defRPr>
            </a:pPr>
            <a:r>
              <a:t>A relational database system for managing students, companies, recruitment drives, applications and offer workflows.</a:t>
            </a:r>
          </a:p>
          <a:p>
            <a:pPr>
              <a:defRPr sz="1300" b="1">
                <a:solidFill>
                  <a:srgbClr val="8B5CF6"/>
                </a:solidFill>
              </a:defRPr>
            </a:pPr>
            <a:r>
              <a:t>DBMS Academic Project  |  End-to-End Placement Lifecycle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4FF"/>
                </a:solidFill>
              </a:defRPr>
            </a:pPr>
            <a:r>
              <a:t>CAMPUS PLACEMENT SYSTEM  |  PROJECT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6FC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B949E"/>
                </a:solidFill>
              </a:defRPr>
            </a:pPr>
            <a:r>
              <a:t>Most college placement cells still run on spreadsheets, emails and manual checks. That creates critical operational challenges: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120640" cy="128016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b="1" sz="1400">
                <a:solidFill>
                  <a:srgbClr val="00D4FF"/>
                </a:solidFill>
              </a:defRPr>
            </a:pPr>
            <a:r>
              <a:t>•  Ineligible students apply</a:t>
            </a:r>
          </a:p>
          <a:p>
            <a:pPr>
              <a:defRPr sz="1100">
                <a:solidFill>
                  <a:srgbClr val="8B949E"/>
                </a:solidFill>
              </a:defRPr>
            </a:pPr>
            <a:r>
              <a:t>No automatic CGPA, backlog or percentage verification before student application.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011680"/>
            <a:ext cx="5120640" cy="128016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b="1" sz="1400">
                <a:solidFill>
                  <a:srgbClr val="00D4FF"/>
                </a:solidFill>
              </a:defRPr>
            </a:pPr>
            <a:r>
              <a:t>•  Duplicate applications</a:t>
            </a:r>
          </a:p>
          <a:p>
            <a:pPr>
              <a:defRPr sz="1100">
                <a:solidFill>
                  <a:srgbClr val="8B949E"/>
                </a:solidFill>
              </a:defRPr>
            </a:pPr>
            <a:r>
              <a:t>The same student can apply multiple times for the same company drive.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29000"/>
            <a:ext cx="5120640" cy="128016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b="1" sz="1400">
                <a:solidFill>
                  <a:srgbClr val="00D4FF"/>
                </a:solidFill>
              </a:defRPr>
            </a:pPr>
            <a:r>
              <a:t>•  Rounds get lost</a:t>
            </a:r>
          </a:p>
          <a:p>
            <a:pPr>
              <a:defRPr sz="1100">
                <a:solidFill>
                  <a:srgbClr val="8B949E"/>
                </a:solidFill>
              </a:defRPr>
            </a:pPr>
            <a:r>
              <a:t>Aptitude, technical and HR evaluation outcomes live in separate disconnected sheets.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429000"/>
            <a:ext cx="5120640" cy="128016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b="1" sz="1400">
                <a:solidFill>
                  <a:srgbClr val="00D4FF"/>
                </a:solidFill>
              </a:defRPr>
            </a:pPr>
            <a:r>
              <a:t>•  Offers are hard to track</a:t>
            </a:r>
          </a:p>
          <a:p>
            <a:pPr>
              <a:defRPr sz="1100">
                <a:solidFill>
                  <a:srgbClr val="8B949E"/>
                </a:solidFill>
              </a:defRPr>
            </a:pPr>
            <a:r>
              <a:t>No single source of truth for who received offers, accepted, or declined.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46320"/>
            <a:ext cx="5120640" cy="128016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b="1" sz="1400">
                <a:solidFill>
                  <a:srgbClr val="00D4FF"/>
                </a:solidFill>
              </a:defRPr>
            </a:pPr>
            <a:r>
              <a:t>•  Reports take too long</a:t>
            </a:r>
          </a:p>
          <a:p>
            <a:pPr>
              <a:defRPr sz="1100">
                <a:solidFill>
                  <a:srgbClr val="8B949E"/>
                </a:solidFill>
              </a:defRPr>
            </a:pPr>
            <a:r>
              <a:t>Compiling branch-wise or company-wise metrics requires hours of manual spreadsheet 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846320"/>
            <a:ext cx="5120640" cy="128016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b="1" sz="1400">
                <a:solidFill>
                  <a:srgbClr val="00D4FF"/>
                </a:solidFill>
              </a:defRPr>
            </a:pPr>
            <a:r>
              <a:t>•  Data becomes unreliable</a:t>
            </a:r>
          </a:p>
          <a:p>
            <a:pPr>
              <a:defRPr sz="1100">
                <a:solidFill>
                  <a:srgbClr val="8B949E"/>
                </a:solidFill>
              </a:defRPr>
            </a:pPr>
            <a:r>
              <a:t>One accidental manual edit breaks consistency across the whole placement record set.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4FF"/>
                </a:solidFill>
              </a:defRPr>
            </a:pPr>
            <a:r>
              <a:t>CAMPUS PLACEMENT SYSTEM  |  PROJECT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6FC"/>
                </a:solidFill>
              </a:defRPr>
            </a:pPr>
            <a:r>
              <a:t>Why This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210312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2200" b="1">
                <a:solidFill>
                  <a:srgbClr val="8B5CF6"/>
                </a:solidFill>
              </a:defRPr>
            </a:pPr>
            <a:r>
              <a:t>01</a:t>
            </a:r>
          </a:p>
          <a:p>
            <a:pPr>
              <a:spcAft>
                <a:spcPts val="600"/>
              </a:spcAft>
              <a:defRPr sz="1300" b="1">
                <a:solidFill>
                  <a:srgbClr val="F0F6FC"/>
                </a:solidFill>
              </a:defRPr>
            </a:pPr>
            <a:r>
              <a:t>Stop Ineligible Applications</a:t>
            </a:r>
          </a:p>
          <a:p>
            <a:pPr>
              <a:defRPr sz="1100">
                <a:solidFill>
                  <a:srgbClr val="8B949E"/>
                </a:solidFill>
              </a:defRPr>
            </a:pPr>
            <a:r>
              <a:t>Eligibility rules (CGPA, marks, backlogs) are verified before allowing an application.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645920"/>
            <a:ext cx="3383280" cy="210312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2200" b="1">
                <a:solidFill>
                  <a:srgbClr val="8B5CF6"/>
                </a:solidFill>
              </a:defRPr>
            </a:pPr>
            <a:r>
              <a:t>02</a:t>
            </a:r>
          </a:p>
          <a:p>
            <a:pPr>
              <a:spcAft>
                <a:spcPts val="600"/>
              </a:spcAft>
              <a:defRPr sz="1300" b="1">
                <a:solidFill>
                  <a:srgbClr val="F0F6FC"/>
                </a:solidFill>
              </a:defRPr>
            </a:pPr>
            <a:r>
              <a:t>One Application Per Drive</a:t>
            </a:r>
          </a:p>
          <a:p>
            <a:pPr>
              <a:defRPr sz="1100">
                <a:solidFill>
                  <a:srgbClr val="8B949E"/>
                </a:solidFill>
              </a:defRPr>
            </a:pPr>
            <a:r>
              <a:t>Database-level unique constraints strictly block redundant duplicate submissions.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645920"/>
            <a:ext cx="3383280" cy="210312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2200" b="1">
                <a:solidFill>
                  <a:srgbClr val="8B5CF6"/>
                </a:solidFill>
              </a:defRPr>
            </a:pPr>
            <a:r>
              <a:t>03</a:t>
            </a:r>
          </a:p>
          <a:p>
            <a:pPr>
              <a:spcAft>
                <a:spcPts val="600"/>
              </a:spcAft>
              <a:defRPr sz="1300" b="1">
                <a:solidFill>
                  <a:srgbClr val="F0F6FC"/>
                </a:solidFill>
              </a:defRPr>
            </a:pPr>
            <a:r>
              <a:t>Clear Round History</a:t>
            </a:r>
          </a:p>
          <a:p>
            <a:pPr>
              <a:defRPr sz="1100">
                <a:solidFill>
                  <a:srgbClr val="8B949E"/>
                </a:solidFill>
              </a:defRPr>
            </a:pPr>
            <a:r>
              <a:t>Every Pass/Fail decision is logged in proper sequence against the correct application.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3383280" cy="210312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2200" b="1">
                <a:solidFill>
                  <a:srgbClr val="8B5CF6"/>
                </a:solidFill>
              </a:defRPr>
            </a:pPr>
            <a:r>
              <a:t>04</a:t>
            </a:r>
          </a:p>
          <a:p>
            <a:pPr>
              <a:spcAft>
                <a:spcPts val="600"/>
              </a:spcAft>
              <a:defRPr sz="1300" b="1">
                <a:solidFill>
                  <a:srgbClr val="F0F6FC"/>
                </a:solidFill>
              </a:defRPr>
            </a:pPr>
            <a:r>
              <a:t>Single Source for Offers</a:t>
            </a:r>
          </a:p>
          <a:p>
            <a:pPr>
              <a:defRPr sz="1100">
                <a:solidFill>
                  <a:srgbClr val="8B949E"/>
                </a:solidFill>
              </a:defRPr>
            </a:pPr>
            <a:r>
              <a:t>Issue, accept, or reject final offers with one authoritative placement ledger.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931920"/>
            <a:ext cx="3383280" cy="210312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2200" b="1">
                <a:solidFill>
                  <a:srgbClr val="8B5CF6"/>
                </a:solidFill>
              </a:defRPr>
            </a:pPr>
            <a:r>
              <a:t>05</a:t>
            </a:r>
          </a:p>
          <a:p>
            <a:pPr>
              <a:spcAft>
                <a:spcPts val="600"/>
              </a:spcAft>
              <a:defRPr sz="1300" b="1">
                <a:solidFill>
                  <a:srgbClr val="F0F6FC"/>
                </a:solidFill>
              </a:defRPr>
            </a:pPr>
            <a:r>
              <a:t>Instant Real-Time Reports</a:t>
            </a:r>
          </a:p>
          <a:p>
            <a:pPr>
              <a:defRPr sz="1100">
                <a:solidFill>
                  <a:srgbClr val="8B949E"/>
                </a:solidFill>
              </a:defRPr>
            </a:pPr>
            <a:r>
              <a:t>Generate branch and company statistics in seconds rather than days of manual effort.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3931920"/>
            <a:ext cx="3383280" cy="210312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2200" b="1">
                <a:solidFill>
                  <a:srgbClr val="8B5CF6"/>
                </a:solidFill>
              </a:defRPr>
            </a:pPr>
            <a:r>
              <a:t>06</a:t>
            </a:r>
          </a:p>
          <a:p>
            <a:pPr>
              <a:spcAft>
                <a:spcPts val="600"/>
              </a:spcAft>
              <a:defRPr sz="1300" b="1">
                <a:solidFill>
                  <a:srgbClr val="F0F6FC"/>
                </a:solidFill>
              </a:defRPr>
            </a:pPr>
            <a:r>
              <a:t>Clean &amp; Consistent Data</a:t>
            </a:r>
          </a:p>
          <a:p>
            <a:pPr>
              <a:defRPr sz="1100">
                <a:solidFill>
                  <a:srgbClr val="8B949E"/>
                </a:solidFill>
              </a:defRPr>
            </a:pPr>
            <a:r>
              <a:t>Relational foreign keys and checks guarantee complete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4FF"/>
                </a:solidFill>
              </a:defRPr>
            </a:pPr>
            <a:r>
              <a:t>CAMPUS PLACEMENT SYSTEM  |  PROJECT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6FC"/>
                </a:solidFill>
              </a:defRPr>
            </a:pPr>
            <a:r>
              <a:t>Project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137160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b="1" sz="1300">
                <a:solidFill>
                  <a:srgbClr val="00D4FF"/>
                </a:solidFill>
              </a:defRPr>
            </a:pPr>
            <a:r>
              <a:t>Objective 1: Identify Domain Entities &amp; User Roles</a:t>
            </a:r>
          </a:p>
          <a:p>
            <a:pPr>
              <a:defRPr sz="1100">
                <a:solidFill>
                  <a:srgbClr val="8B949E"/>
                </a:solidFill>
              </a:defRPr>
            </a:pPr>
            <a:r>
              <a:t>Map out students, departments, companies, drives, applications, rounds, and offers with tailored role permissions.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5120640" cy="137160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b="1" sz="1300">
                <a:solidFill>
                  <a:srgbClr val="00D4FF"/>
                </a:solidFill>
              </a:defRPr>
            </a:pPr>
            <a:r>
              <a:t>Objective 2: Design Comprehensive ER Model</a:t>
            </a:r>
          </a:p>
          <a:p>
            <a:pPr>
              <a:defRPr sz="1100">
                <a:solidFill>
                  <a:srgbClr val="8B949E"/>
                </a:solidFill>
              </a:defRPr>
            </a:pPr>
            <a:r>
              <a:t>Formulate clear cardinality, relationships, and attributes capturing the complete campus placement cycle.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5120640" cy="137160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b="1" sz="1300">
                <a:solidFill>
                  <a:srgbClr val="00D4FF"/>
                </a:solidFill>
              </a:defRPr>
            </a:pPr>
            <a:r>
              <a:t>Objective 3: Relational Schema &amp; 3NF Normalization</a:t>
            </a:r>
          </a:p>
          <a:p>
            <a:pPr>
              <a:defRPr sz="1100">
                <a:solidFill>
                  <a:srgbClr val="8B949E"/>
                </a:solidFill>
              </a:defRPr>
            </a:pPr>
            <a:r>
              <a:t>Transform the conceptual ER model into normalized relational tables eliminating redundancy and anomalies.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200400"/>
            <a:ext cx="5120640" cy="137160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b="1" sz="1300">
                <a:solidFill>
                  <a:srgbClr val="00D4FF"/>
                </a:solidFill>
              </a:defRPr>
            </a:pPr>
            <a:r>
              <a:t>Objective 4: Enforce Integrity Constraints</a:t>
            </a:r>
          </a:p>
          <a:p>
            <a:pPr>
              <a:defRPr sz="1100">
                <a:solidFill>
                  <a:srgbClr val="8B949E"/>
                </a:solidFill>
              </a:defRPr>
            </a:pPr>
            <a:r>
              <a:t>Implement Primary Keys, Foreign Keys, UNIQUE, and CHECK constraints at the database engine level.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5120640" cy="137160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b="1" sz="1300">
                <a:solidFill>
                  <a:srgbClr val="00D4FF"/>
                </a:solidFill>
              </a:defRPr>
            </a:pPr>
            <a:r>
              <a:t>Objective 5: Sample Data &amp; Analytical Queries</a:t>
            </a:r>
          </a:p>
          <a:p>
            <a:pPr>
              <a:defRPr sz="1100">
                <a:solidFill>
                  <a:srgbClr val="8B949E"/>
                </a:solidFill>
              </a:defRPr>
            </a:pPr>
            <a:r>
              <a:t>Populate realistic student and drive data; write SQL queries for shortlist generation and placement audits.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4754880"/>
            <a:ext cx="5120640" cy="137160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b="1" sz="1300">
                <a:solidFill>
                  <a:srgbClr val="00D4FF"/>
                </a:solidFill>
              </a:defRPr>
            </a:pPr>
            <a:r>
              <a:t>Objective 6: Working Application Implementation</a:t>
            </a:r>
          </a:p>
          <a:p>
            <a:pPr>
              <a:defRPr sz="1100">
                <a:solidFill>
                  <a:srgbClr val="8B949E"/>
                </a:solidFill>
              </a:defRPr>
            </a:pPr>
            <a:r>
              <a:t>Deliver a functioning front-end and Python application validating end-to-end drive lifecycle operations.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4FF"/>
                </a:solidFill>
              </a:defRPr>
            </a:pPr>
            <a:r>
              <a:t>CAMPUS PLACEMENT SYSTEM  |  PROJECT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6FC"/>
                </a:solidFill>
              </a:defRPr>
            </a:pPr>
            <a:r>
              <a:t>Users &amp; Responsibilities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600" b="1">
                <a:solidFill>
                  <a:srgbClr val="00D4FF"/>
                </a:solidFill>
              </a:defRPr>
            </a:pPr>
            <a:r>
              <a:t>Placement Officer</a:t>
            </a:r>
          </a:p>
          <a:p>
            <a:pPr>
              <a:defRPr sz="1200">
                <a:solidFill>
                  <a:srgbClr val="8B949E"/>
                </a:solidFill>
              </a:defRPr>
            </a:pPr>
            <a:r>
              <a:t>Create recruitment drives, define eligibility criteria, record sequential round results, issue final offers, and generate aggregate reports.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645920"/>
            <a:ext cx="2560320" cy="438912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600" b="1">
                <a:solidFill>
                  <a:srgbClr val="10B981"/>
                </a:solidFill>
              </a:defRPr>
            </a:pPr>
            <a:r>
              <a:t>Student / Candidate</a:t>
            </a:r>
          </a:p>
          <a:p>
            <a:pPr>
              <a:defRPr sz="1200">
                <a:solidFill>
                  <a:srgbClr val="8B949E"/>
                </a:solidFill>
              </a:defRPr>
            </a:pPr>
            <a:r>
              <a:t>Explore eligible drives, submit applications, track review status across aptitude/tech/HR rounds, and accept or reject offers.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2560320" cy="438912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600" b="1">
                <a:solidFill>
                  <a:srgbClr val="8B5CF6"/>
                </a:solidFill>
              </a:defRPr>
            </a:pPr>
            <a:r>
              <a:t>Department Coordinator</a:t>
            </a:r>
          </a:p>
          <a:p>
            <a:pPr>
              <a:defRPr sz="1200">
                <a:solidFill>
                  <a:srgbClr val="8B949E"/>
                </a:solidFill>
              </a:defRPr>
            </a:pPr>
            <a:r>
              <a:t>Monitor branch-wise participation, track eligible student counts, and review branch placement percentages.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645920"/>
            <a:ext cx="2560320" cy="438912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600" b="1">
                <a:solidFill>
                  <a:srgbClr val="FBBF24"/>
                </a:solidFill>
              </a:defRPr>
            </a:pPr>
            <a:r>
              <a:t>Company Recruiter</a:t>
            </a:r>
          </a:p>
          <a:p>
            <a:pPr>
              <a:defRPr sz="1200">
                <a:solidFill>
                  <a:srgbClr val="8B949E"/>
                </a:solidFill>
              </a:defRPr>
            </a:pPr>
            <a:r>
              <a:t>View drive applicant profiles, evaluate candidates across rounds, submit shortlists, and confirm hiring selections.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4FF"/>
                </a:solidFill>
              </a:defRPr>
            </a:pPr>
            <a:r>
              <a:t>CAMPUS PLACEMENT SYSTEM  |  PROJECT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6FC"/>
                </a:solidFill>
              </a:defRPr>
            </a:pPr>
            <a:r>
              <a:t>Main System Functions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383280" cy="192024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400">
                <a:solidFill>
                  <a:srgbClr val="00D4FF"/>
                </a:solidFill>
              </a:defRPr>
            </a:pPr>
            <a:r>
              <a:t>1. Drive Setup</a:t>
            </a:r>
          </a:p>
          <a:p>
            <a:pPr>
              <a:defRPr sz="1100">
                <a:solidFill>
                  <a:srgbClr val="8B949E"/>
                </a:solidFill>
              </a:defRPr>
            </a:pPr>
            <a:r>
              <a:t>Configure recruitment events tied to specific company job profiles and packages (LPA).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737360"/>
            <a:ext cx="3383280" cy="192024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400">
                <a:solidFill>
                  <a:srgbClr val="00D4FF"/>
                </a:solidFill>
              </a:defRPr>
            </a:pPr>
            <a:r>
              <a:t>2. Eligibility Check</a:t>
            </a:r>
          </a:p>
          <a:p>
            <a:pPr>
              <a:defRPr sz="1100">
                <a:solidFill>
                  <a:srgbClr val="8B949E"/>
                </a:solidFill>
              </a:defRPr>
            </a:pPr>
            <a:r>
              <a:t>Automated validation of CGPA, 10th/12th percentages, and backlogs before applying.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737360"/>
            <a:ext cx="3383280" cy="192024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400">
                <a:solidFill>
                  <a:srgbClr val="00D4FF"/>
                </a:solidFill>
              </a:defRPr>
            </a:pPr>
            <a:r>
              <a:t>3. Application Processing</a:t>
            </a:r>
          </a:p>
          <a:p>
            <a:pPr>
              <a:defRPr sz="1100">
                <a:solidFill>
                  <a:srgbClr val="8B949E"/>
                </a:solidFill>
              </a:defRPr>
            </a:pPr>
            <a:r>
              <a:t>Single-click application with built-in prevention of duplicate submissions per drive.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3383280" cy="192024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400">
                <a:solidFill>
                  <a:srgbClr val="00D4FF"/>
                </a:solidFill>
              </a:defRPr>
            </a:pPr>
            <a:r>
              <a:t>4. Round Management</a:t>
            </a:r>
          </a:p>
          <a:p>
            <a:pPr>
              <a:defRPr sz="1100">
                <a:solidFill>
                  <a:srgbClr val="8B949E"/>
                </a:solidFill>
              </a:defRPr>
            </a:pPr>
            <a:r>
              <a:t>Sequential progression across Aptitude, Coding, Technical, and HR interviews.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931920"/>
            <a:ext cx="3383280" cy="192024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400">
                <a:solidFill>
                  <a:srgbClr val="00D4FF"/>
                </a:solidFill>
              </a:defRPr>
            </a:pPr>
            <a:r>
              <a:t>5. Offer Lifecycle</a:t>
            </a:r>
          </a:p>
          <a:p>
            <a:pPr>
              <a:defRPr sz="1100">
                <a:solidFill>
                  <a:srgbClr val="8B949E"/>
                </a:solidFill>
              </a:defRPr>
            </a:pPr>
            <a:r>
              <a:t>Formal offer issuance with student acceptance/rejection logging.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3931920"/>
            <a:ext cx="3383280" cy="192024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b="1" sz="1400">
                <a:solidFill>
                  <a:srgbClr val="00D4FF"/>
                </a:solidFill>
              </a:defRPr>
            </a:pPr>
            <a:r>
              <a:t>6. Reporting &amp; Analytics</a:t>
            </a:r>
          </a:p>
          <a:p>
            <a:pPr>
              <a:defRPr sz="1100">
                <a:solidFill>
                  <a:srgbClr val="8B949E"/>
                </a:solidFill>
              </a:defRPr>
            </a:pPr>
            <a:r>
              <a:t>Instant shortlists, department placement audit, and recruiter analytics.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4FF"/>
                </a:solidFill>
              </a:defRPr>
            </a:pPr>
            <a:r>
              <a:t>CAMPUS PLACEMENT SYSTEM  |  PROJECT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6FC"/>
                </a:solidFill>
              </a:defRPr>
            </a:pPr>
            <a:r>
              <a:t>Process Flow &amp; Stage Walkthrough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691640" cy="411480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8B5CF6"/>
                </a:solidFill>
              </a:defRPr>
            </a:pPr>
            <a:r>
              <a:t>Step 1</a:t>
            </a:r>
          </a:p>
          <a:p>
            <a:pPr>
              <a:spcAft>
                <a:spcPts val="1000"/>
              </a:spcAft>
              <a:defRPr sz="1400" b="1">
                <a:solidFill>
                  <a:srgbClr val="00D4FF"/>
                </a:solidFill>
              </a:defRPr>
            </a:pPr>
            <a:r>
              <a:t>Create Drive</a:t>
            </a:r>
          </a:p>
          <a:p>
            <a:pPr>
              <a:defRPr sz="1000">
                <a:solidFill>
                  <a:srgbClr val="8B949E"/>
                </a:solidFill>
              </a:defRPr>
            </a:pPr>
            <a:r>
              <a:t>Placement officer creates drive linked to company job profile.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14600" y="1828800"/>
            <a:ext cx="1691640" cy="411480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8B5CF6"/>
                </a:solidFill>
              </a:defRPr>
            </a:pPr>
            <a:r>
              <a:t>Step 2</a:t>
            </a:r>
          </a:p>
          <a:p>
            <a:pPr>
              <a:spcAft>
                <a:spcPts val="1000"/>
              </a:spcAft>
              <a:defRPr sz="1400" b="1">
                <a:solidFill>
                  <a:srgbClr val="00D4FF"/>
                </a:solidFill>
              </a:defRPr>
            </a:pPr>
            <a:r>
              <a:t>Set Eligibility</a:t>
            </a:r>
          </a:p>
          <a:p>
            <a:pPr>
              <a:defRPr sz="1000">
                <a:solidFill>
                  <a:srgbClr val="8B949E"/>
                </a:solidFill>
              </a:defRPr>
            </a:pPr>
            <a:r>
              <a:t>Defines min CGPA, max backlogs, and eligible branches.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828800"/>
            <a:ext cx="1691640" cy="411480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8B5CF6"/>
                </a:solidFill>
              </a:defRPr>
            </a:pPr>
            <a:r>
              <a:t>Step 3</a:t>
            </a:r>
          </a:p>
          <a:p>
            <a:pPr>
              <a:spcAft>
                <a:spcPts val="1000"/>
              </a:spcAft>
              <a:defRPr sz="1400" b="1">
                <a:solidFill>
                  <a:srgbClr val="00D4FF"/>
                </a:solidFill>
              </a:defRPr>
            </a:pPr>
            <a:r>
              <a:t>Student Applies</a:t>
            </a:r>
          </a:p>
          <a:p>
            <a:pPr>
              <a:defRPr sz="1000">
                <a:solidFill>
                  <a:srgbClr val="8B949E"/>
                </a:solidFill>
              </a:defRPr>
            </a:pPr>
            <a:r>
              <a:t>Eligible students submit application (blocked if ineligible or duplicate).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59" y="1828800"/>
            <a:ext cx="1691640" cy="411480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8B5CF6"/>
                </a:solidFill>
              </a:defRPr>
            </a:pPr>
            <a:r>
              <a:t>Step 4</a:t>
            </a:r>
          </a:p>
          <a:p>
            <a:pPr>
              <a:spcAft>
                <a:spcPts val="1000"/>
              </a:spcAft>
              <a:defRPr sz="1400" b="1">
                <a:solidFill>
                  <a:srgbClr val="00D4FF"/>
                </a:solidFill>
              </a:defRPr>
            </a:pPr>
            <a:r>
              <a:t>Round Results</a:t>
            </a:r>
          </a:p>
          <a:p>
            <a:pPr>
              <a:defRPr sz="1000">
                <a:solidFill>
                  <a:srgbClr val="8B949E"/>
                </a:solidFill>
              </a:defRPr>
            </a:pPr>
            <a:r>
              <a:t>Evaluation recorded sequentially: Aptitude -&gt; Technical -&gt; HR.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828800"/>
            <a:ext cx="1691640" cy="411480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8B5CF6"/>
                </a:solidFill>
              </a:defRPr>
            </a:pPr>
            <a:r>
              <a:t>Step 5</a:t>
            </a:r>
          </a:p>
          <a:p>
            <a:pPr>
              <a:spcAft>
                <a:spcPts val="1000"/>
              </a:spcAft>
              <a:defRPr sz="1400" b="1">
                <a:solidFill>
                  <a:srgbClr val="00D4FF"/>
                </a:solidFill>
              </a:defRPr>
            </a:pPr>
            <a:r>
              <a:t>Issue Offer</a:t>
            </a:r>
          </a:p>
          <a:p>
            <a:pPr>
              <a:defRPr sz="1000">
                <a:solidFill>
                  <a:srgbClr val="8B949E"/>
                </a:solidFill>
              </a:defRPr>
            </a:pPr>
            <a:r>
              <a:t>Offer issued to cleared candidates (one per application).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46920" y="1828800"/>
            <a:ext cx="1691640" cy="411480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8B5CF6"/>
                </a:solidFill>
              </a:defRPr>
            </a:pPr>
            <a:r>
              <a:t>Step 6</a:t>
            </a:r>
          </a:p>
          <a:p>
            <a:pPr>
              <a:spcAft>
                <a:spcPts val="1000"/>
              </a:spcAft>
              <a:defRPr sz="1400" b="1">
                <a:solidFill>
                  <a:srgbClr val="00D4FF"/>
                </a:solidFill>
              </a:defRPr>
            </a:pPr>
            <a:r>
              <a:t>Accept / Reject</a:t>
            </a:r>
          </a:p>
          <a:p>
            <a:pPr>
              <a:defRPr sz="1000">
                <a:solidFill>
                  <a:srgbClr val="8B949E"/>
                </a:solidFill>
              </a:defRPr>
            </a:pPr>
            <a:r>
              <a:t>Candidate accepts or declines; placement ledger updates.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4FF"/>
                </a:solidFill>
              </a:defRPr>
            </a:pPr>
            <a:r>
              <a:t>CAMPUS PLACEMENT SYSTEM  |  PROJECT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6FC"/>
                </a:solidFill>
              </a:defRPr>
            </a:pPr>
            <a:r>
              <a:t>ER Diagram &amp; Key Relationships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731520"/>
          </a:xfrm>
          <a:prstGeom prst="roundRect">
            <a:avLst/>
          </a:prstGeom>
          <a:solidFill>
            <a:srgbClr val="161B22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0F6FC"/>
                </a:solidFill>
              </a:defRPr>
            </a:pPr>
            <a:r>
              <a:t>13 Core Relational Entities: Department  •  Student  •  AcademicRecord  •  Skill  •  Student_Skill  •  Company  •  JobProfile  •  Drive  •  EligibilityCriteria  •  Application  •  Round  •  RoundResult  •  Offer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5120640" cy="68580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00D4FF"/>
                </a:solidFill>
              </a:defRPr>
            </a:pPr>
            <a:r>
              <a:t>Department  1 : N  Student</a:t>
            </a:r>
          </a:p>
          <a:p>
            <a:pPr>
              <a:defRPr sz="950">
                <a:solidFill>
                  <a:srgbClr val="8B949E"/>
                </a:solidFill>
              </a:defRPr>
            </a:pPr>
            <a:r>
              <a:t>One academic department enrolls multiple students.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560320"/>
            <a:ext cx="5120640" cy="68580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00D4FF"/>
                </a:solidFill>
              </a:defRPr>
            </a:pPr>
            <a:r>
              <a:t>Student  1 : 1  AcademicRecord</a:t>
            </a:r>
          </a:p>
          <a:p>
            <a:pPr>
              <a:defRPr sz="950">
                <a:solidFill>
                  <a:srgbClr val="8B949E"/>
                </a:solidFill>
              </a:defRPr>
            </a:pPr>
            <a:r>
              <a:t>Each student maintains exactly one official academic record.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37560"/>
            <a:ext cx="5120640" cy="68580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00D4FF"/>
                </a:solidFill>
              </a:defRPr>
            </a:pPr>
            <a:r>
              <a:t>Student  M : N  Skill</a:t>
            </a:r>
          </a:p>
          <a:p>
            <a:pPr>
              <a:defRPr sz="950">
                <a:solidFill>
                  <a:srgbClr val="8B949E"/>
                </a:solidFill>
              </a:defRPr>
            </a:pPr>
            <a:r>
              <a:t>Bridged via Student_Skill composite junction table.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337560"/>
            <a:ext cx="5120640" cy="68580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00D4FF"/>
                </a:solidFill>
              </a:defRPr>
            </a:pPr>
            <a:r>
              <a:t>Company  1 : N  JobProfile</a:t>
            </a:r>
          </a:p>
          <a:p>
            <a:pPr>
              <a:defRPr sz="950">
                <a:solidFill>
                  <a:srgbClr val="8B949E"/>
                </a:solidFill>
              </a:defRPr>
            </a:pPr>
            <a:r>
              <a:t>One hiring organization lists multiple openings.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120640" cy="68580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00D4FF"/>
                </a:solidFill>
              </a:defRPr>
            </a:pPr>
            <a:r>
              <a:t>JobProfile  1 : N  Drive</a:t>
            </a:r>
          </a:p>
          <a:p>
            <a:pPr>
              <a:defRPr sz="950">
                <a:solidFill>
                  <a:srgbClr val="8B949E"/>
                </a:solidFill>
              </a:defRPr>
            </a:pPr>
            <a:r>
              <a:t>A job profile can sponsor multiple campus drive events.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114800"/>
            <a:ext cx="5120640" cy="68580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00D4FF"/>
                </a:solidFill>
              </a:defRPr>
            </a:pPr>
            <a:r>
              <a:t>Drive  1 : 1  EligibilityCriteria</a:t>
            </a:r>
          </a:p>
          <a:p>
            <a:pPr>
              <a:defRPr sz="950">
                <a:solidFill>
                  <a:srgbClr val="8B949E"/>
                </a:solidFill>
              </a:defRPr>
            </a:pPr>
            <a:r>
              <a:t>Each recruitment drive enforces specific qualifying rules.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892040"/>
            <a:ext cx="5120640" cy="68580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00D4FF"/>
                </a:solidFill>
              </a:defRPr>
            </a:pPr>
            <a:r>
              <a:t>Student  M : N  Drive  (Application)</a:t>
            </a:r>
          </a:p>
          <a:p>
            <a:pPr>
              <a:defRPr sz="950">
                <a:solidFill>
                  <a:srgbClr val="8B949E"/>
                </a:solidFill>
              </a:defRPr>
            </a:pPr>
            <a:r>
              <a:t>Students apply to multiple drives; each drive receives multiple applications.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4892040"/>
            <a:ext cx="5120640" cy="68580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00D4FF"/>
                </a:solidFill>
              </a:defRPr>
            </a:pPr>
            <a:r>
              <a:t>Drive  1 : N  Round</a:t>
            </a:r>
          </a:p>
          <a:p>
            <a:pPr>
              <a:defRPr sz="950">
                <a:solidFill>
                  <a:srgbClr val="8B949E"/>
                </a:solidFill>
              </a:defRPr>
            </a:pPr>
            <a:r>
              <a:t>Recruitment drives organize sequential evaluation rounds.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669279"/>
            <a:ext cx="5120640" cy="68580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00D4FF"/>
                </a:solidFill>
              </a:defRPr>
            </a:pPr>
            <a:r>
              <a:t>Application  1 : N  RoundResult</a:t>
            </a:r>
          </a:p>
          <a:p>
            <a:pPr>
              <a:defRPr sz="950">
                <a:solidFill>
                  <a:srgbClr val="8B949E"/>
                </a:solidFill>
              </a:defRPr>
            </a:pPr>
            <a:r>
              <a:t>Round-by-round assessment scores logged per application.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5669279"/>
            <a:ext cx="5120640" cy="68580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00D4FF"/>
                </a:solidFill>
              </a:defRPr>
            </a:pPr>
            <a:r>
              <a:t>Application  1 : 1  Offer</a:t>
            </a:r>
          </a:p>
          <a:p>
            <a:pPr>
              <a:defRPr sz="950">
                <a:solidFill>
                  <a:srgbClr val="8B949E"/>
                </a:solidFill>
              </a:defRPr>
            </a:pPr>
            <a:r>
              <a:t>Successful qualification yields a unique final offer letter.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4FF"/>
                </a:solidFill>
              </a:defRPr>
            </a:pPr>
            <a:r>
              <a:t>CAMPUS PLACEMENT SYSTEM  |  PROJECT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6FC"/>
                </a:solidFill>
              </a:defRPr>
            </a:pPr>
            <a:r>
              <a:t>Main Entities &amp; Attributes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114800"/>
                <a:gridCol w="4572000"/>
              </a:tblGrid>
              <a:tr h="43891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0D4FF"/>
                          </a:solidFill>
                        </a:defRPr>
                      </a:pPr>
                      <a:r>
                        <a:t>Entity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0D4FF"/>
                          </a:solidFill>
                        </a:defRPr>
                      </a:pPr>
                      <a:r>
                        <a:t>Domain Concept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0D4FF"/>
                          </a:solidFill>
                        </a:defRPr>
                      </a:pPr>
                      <a:r>
                        <a:t>Key Attributes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0F6FC"/>
                          </a:solidFill>
                        </a:defRPr>
                      </a:pPr>
                      <a:r>
                        <a:t>Student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8B949E"/>
                          </a:solidFill>
                        </a:defRPr>
                      </a:pPr>
                      <a:r>
                        <a:t>Candidate registered for placement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8B949E"/>
                          </a:solidFill>
                        </a:defRPr>
                      </a:pPr>
                      <a:r>
                        <a:t>roll_no, name, email, department_id, gender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0F6FC"/>
                          </a:solidFill>
                        </a:defRPr>
                      </a:pPr>
                      <a:r>
                        <a:t>Academic_Record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8B949E"/>
                          </a:solidFill>
                        </a:defRPr>
                      </a:pPr>
                      <a:r>
                        <a:t>Performance and marks overview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8B949E"/>
                          </a:solidFill>
                        </a:defRPr>
                      </a:pPr>
                      <a:r>
                        <a:t>student_id, cgpa, tenth_pct, twelfth_pct, backlogs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0F6FC"/>
                          </a:solidFill>
                        </a:defRPr>
                      </a:pPr>
                      <a:r>
                        <a:t>Company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8B949E"/>
                          </a:solidFill>
                        </a:defRPr>
                      </a:pPr>
                      <a:r>
                        <a:t>Recruiting partner organisation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8B949E"/>
                          </a:solidFill>
                        </a:defRPr>
                      </a:pPr>
                      <a:r>
                        <a:t>company_id, name, industry, website, hr_email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0F6FC"/>
                          </a:solidFill>
                        </a:defRPr>
                      </a:pPr>
                      <a:r>
                        <a:t>Job_Profile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8B949E"/>
                          </a:solidFill>
                        </a:defRPr>
                      </a:pPr>
                      <a:r>
                        <a:t>Specific job designation opening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8B949E"/>
                          </a:solidFill>
                        </a:defRPr>
                      </a:pPr>
                      <a:r>
                        <a:t>job_id, company_id, title, type, package_lpa, location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0F6FC"/>
                          </a:solidFill>
                        </a:defRPr>
                      </a:pPr>
                      <a:r>
                        <a:t>Drive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8B949E"/>
                          </a:solidFill>
                        </a:defRPr>
                      </a:pPr>
                      <a:r>
                        <a:t>Campus recruitment event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8B949E"/>
                          </a:solidFill>
                        </a:defRPr>
                      </a:pPr>
                      <a:r>
                        <a:t>drive_id, job_id, date, venue, status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0F6FC"/>
                          </a:solidFill>
                        </a:defRPr>
                      </a:pPr>
                      <a:r>
                        <a:t>Eligibility_Criteria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8B949E"/>
                          </a:solidFill>
                        </a:defRPr>
                      </a:pPr>
                      <a:r>
                        <a:t>Thresholds required to apply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8B949E"/>
                          </a:solidFill>
                        </a:defRPr>
                      </a:pPr>
                      <a:r>
                        <a:t>drive_id, min_cgpa, max_backlogs, min_tenth_pct, min_twelfth_pct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0F6FC"/>
                          </a:solidFill>
                        </a:defRPr>
                      </a:pPr>
                      <a:r>
                        <a:t>Application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8B949E"/>
                          </a:solidFill>
                        </a:defRPr>
                      </a:pPr>
                      <a:r>
                        <a:t>Student registration for a drive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8B949E"/>
                          </a:solidFill>
                        </a:defRPr>
                      </a:pPr>
                      <a:r>
                        <a:t>application_id, student_id, drive_id, applied_on, status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0F6FC"/>
                          </a:solidFill>
                        </a:defRPr>
                      </a:pPr>
                      <a:r>
                        <a:t>Round / Result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8B949E"/>
                          </a:solidFill>
                        </a:defRPr>
                      </a:pPr>
                      <a:r>
                        <a:t>Selection interview stage outcome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8B949E"/>
                          </a:solidFill>
                        </a:defRPr>
                      </a:pPr>
                      <a:r>
                        <a:t>round_id, sequence_no, application_id, result, score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0F6FC"/>
                          </a:solidFill>
                        </a:defRPr>
                      </a:pPr>
                      <a:r>
                        <a:t>Offer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8B949E"/>
                          </a:solidFill>
                        </a:defRPr>
                      </a:pPr>
                      <a:r>
                        <a:t>Final formal placement job offer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8B949E"/>
                          </a:solidFill>
                        </a:defRPr>
                      </a:pPr>
                      <a:r>
                        <a:t>offer_id, application_id, package_lpa, status, accepted_on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4FF"/>
                </a:solidFill>
              </a:defRPr>
            </a:pPr>
            <a:r>
              <a:t>CAMPUS PLACEMENT SYSTEM  |  PROJECT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6FC"/>
                </a:solidFill>
              </a:defRPr>
            </a:pPr>
            <a:r>
              <a:t>Relational Schema Design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011680"/>
                <a:gridCol w="6492240"/>
              </a:tblGrid>
              <a:tr h="35169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0D4FF"/>
                          </a:solidFill>
                        </a:defRPr>
                      </a:pPr>
                      <a:r>
                        <a:t>Table Name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0D4FF"/>
                          </a:solidFill>
                        </a:defRPr>
                      </a:pPr>
                      <a:r>
                        <a:t>Primary Key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0D4FF"/>
                          </a:solidFill>
                        </a:defRPr>
                      </a:pPr>
                      <a:r>
                        <a:t>Foreign Keys &amp; Relational Constraints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D4FF"/>
                          </a:solidFill>
                        </a:defRPr>
                      </a:pPr>
                      <a:r>
                        <a:t>Department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8B5CF6"/>
                          </a:solidFill>
                        </a:defRPr>
                      </a:pPr>
                      <a:r>
                        <a:t>dept_id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8B949E"/>
                          </a:solidFill>
                        </a:defRPr>
                      </a:pPr>
                      <a:r>
                        <a:t>Referenced by Student.dept_id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D4FF"/>
                          </a:solidFill>
                        </a:defRPr>
                      </a:pPr>
                      <a:r>
                        <a:t>Student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8B5CF6"/>
                          </a:solidFill>
                        </a:defRPr>
                      </a:pPr>
                      <a:r>
                        <a:t>student_id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8B949E"/>
                          </a:solidFill>
                        </a:defRPr>
                      </a:pPr>
                      <a:r>
                        <a:t>FK -&gt; Department(dept_id); UNIQUE(roll_no), UNIQUE(email)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D4FF"/>
                          </a:solidFill>
                        </a:defRPr>
                      </a:pPr>
                      <a:r>
                        <a:t>Academic_Record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8B5CF6"/>
                          </a:solidFill>
                        </a:defRPr>
                      </a:pPr>
                      <a:r>
                        <a:t>student_id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8B949E"/>
                          </a:solidFill>
                        </a:defRPr>
                      </a:pPr>
                      <a:r>
                        <a:t>1:1 with Student; FK -&gt; Student(student_id)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D4FF"/>
                          </a:solidFill>
                        </a:defRPr>
                      </a:pPr>
                      <a:r>
                        <a:t>Skill / Student_Skill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8B5CF6"/>
                          </a:solidFill>
                        </a:defRPr>
                      </a:pPr>
                      <a:r>
                        <a:t>skill_id / composite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8B949E"/>
                          </a:solidFill>
                        </a:defRPr>
                      </a:pPr>
                      <a:r>
                        <a:t>M:N relationship bridge between Student and Skill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D4FF"/>
                          </a:solidFill>
                        </a:defRPr>
                      </a:pPr>
                      <a:r>
                        <a:t>Company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8B5CF6"/>
                          </a:solidFill>
                        </a:defRPr>
                      </a:pPr>
                      <a:r>
                        <a:t>company_id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8B949E"/>
                          </a:solidFill>
                        </a:defRPr>
                      </a:pPr>
                      <a:r>
                        <a:t>Referenced by Job_Profile(company_id)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D4FF"/>
                          </a:solidFill>
                        </a:defRPr>
                      </a:pPr>
                      <a:r>
                        <a:t>Job_Profile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8B5CF6"/>
                          </a:solidFill>
                        </a:defRPr>
                      </a:pPr>
                      <a:r>
                        <a:t>job_id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8B949E"/>
                          </a:solidFill>
                        </a:defRPr>
                      </a:pPr>
                      <a:r>
                        <a:t>FK -&gt; Company(company_id)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D4FF"/>
                          </a:solidFill>
                        </a:defRPr>
                      </a:pPr>
                      <a:r>
                        <a:t>Drive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8B5CF6"/>
                          </a:solidFill>
                        </a:defRPr>
                      </a:pPr>
                      <a:r>
                        <a:t>drive_id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8B949E"/>
                          </a:solidFill>
                        </a:defRPr>
                      </a:pPr>
                      <a:r>
                        <a:t>FK -&gt; Job_Profile(job_id)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D4FF"/>
                          </a:solidFill>
                        </a:defRPr>
                      </a:pPr>
                      <a:r>
                        <a:t>Eligibility_Criteria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8B5CF6"/>
                          </a:solidFill>
                        </a:defRPr>
                      </a:pPr>
                      <a:r>
                        <a:t>drive_id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8B949E"/>
                          </a:solidFill>
                        </a:defRPr>
                      </a:pPr>
                      <a:r>
                        <a:t>1:1 with Drive; FK -&gt; Drive(drive_id)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D4FF"/>
                          </a:solidFill>
                        </a:defRPr>
                      </a:pPr>
                      <a:r>
                        <a:t>Application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8B5CF6"/>
                          </a:solidFill>
                        </a:defRPr>
                      </a:pPr>
                      <a:r>
                        <a:t>application_id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8B949E"/>
                          </a:solidFill>
                        </a:defRPr>
                      </a:pPr>
                      <a:r>
                        <a:t>FK -&gt; Student, Drive; UNIQUE(student_id, drive_id)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D4FF"/>
                          </a:solidFill>
                        </a:defRPr>
                      </a:pPr>
                      <a:r>
                        <a:t>Round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8B5CF6"/>
                          </a:solidFill>
                        </a:defRPr>
                      </a:pPr>
                      <a:r>
                        <a:t>round_id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8B949E"/>
                          </a:solidFill>
                        </a:defRPr>
                      </a:pPr>
                      <a:r>
                        <a:t>FK -&gt; Drive(drive_id); UNIQUE(drive_id, sequence_no)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D4FF"/>
                          </a:solidFill>
                        </a:defRPr>
                      </a:pPr>
                      <a:r>
                        <a:t>Round_Result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8B5CF6"/>
                          </a:solidFill>
                        </a:defRPr>
                      </a:pPr>
                      <a:r>
                        <a:t>result_id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8B949E"/>
                          </a:solidFill>
                        </a:defRPr>
                      </a:pPr>
                      <a:r>
                        <a:t>FK -&gt; Application(app_id), Round(round_id)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35169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D4FF"/>
                          </a:solidFill>
                        </a:defRPr>
                      </a:pPr>
                      <a:r>
                        <a:t>Offer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8B5CF6"/>
                          </a:solidFill>
                        </a:defRPr>
                      </a:pPr>
                      <a:r>
                        <a:t>offer_id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8B949E"/>
                          </a:solidFill>
                        </a:defRPr>
                      </a:pPr>
                      <a:r>
                        <a:t>FK -&gt; Application; UNIQUE(application_id)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4FF"/>
                </a:solidFill>
              </a:defRPr>
            </a:pPr>
            <a:r>
              <a:t>CAMPUS PLACEMENT SYSTEM  |  PROJECT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6FC"/>
                </a:solidFill>
              </a:defRPr>
            </a:pPr>
            <a:r>
              <a:t>Business Rules &amp; Enforcement Mechanism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105156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b="1" sz="1200">
                <a:solidFill>
                  <a:srgbClr val="00D4FF"/>
                </a:solidFill>
              </a:defRPr>
            </a:pPr>
            <a:r>
              <a:t>•  One application per student per drive</a:t>
            </a:r>
          </a:p>
          <a:p>
            <a:pPr>
              <a:defRPr sz="1000">
                <a:solidFill>
                  <a:srgbClr val="8B949E"/>
                </a:solidFill>
              </a:defRPr>
            </a:pPr>
            <a:r>
              <a:t>UNIQUE (student_id, drive_id) constraint on Application table.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5120640" cy="105156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b="1" sz="1200">
                <a:solidFill>
                  <a:srgbClr val="00D4FF"/>
                </a:solidFill>
              </a:defRPr>
            </a:pPr>
            <a:r>
              <a:t>•  No duplicate placement offers</a:t>
            </a:r>
          </a:p>
          <a:p>
            <a:pPr>
              <a:defRPr sz="1000">
                <a:solidFill>
                  <a:srgbClr val="8B949E"/>
                </a:solidFill>
              </a:defRPr>
            </a:pPr>
            <a:r>
              <a:t>UNIQUE (application_id) constraint on Offer table.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88920"/>
            <a:ext cx="5120640" cy="105156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b="1" sz="1200">
                <a:solidFill>
                  <a:srgbClr val="00D4FF"/>
                </a:solidFill>
              </a:defRPr>
            </a:pPr>
            <a:r>
              <a:t>•  Valid CGPA range (0.0 – 10.0)</a:t>
            </a:r>
          </a:p>
          <a:p>
            <a:pPr>
              <a:defRPr sz="1000">
                <a:solidFill>
                  <a:srgbClr val="8B949E"/>
                </a:solidFill>
              </a:defRPr>
            </a:pPr>
            <a:r>
              <a:t>CHECK (cgpa &gt;= 0.0 AND cgpa &lt;= 10.0) constraint on Academic_Record.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788920"/>
            <a:ext cx="5120640" cy="105156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b="1" sz="1200">
                <a:solidFill>
                  <a:srgbClr val="00D4FF"/>
                </a:solidFill>
              </a:defRPr>
            </a:pPr>
            <a:r>
              <a:t>•  Valid marks and non-negative backlogs</a:t>
            </a:r>
          </a:p>
          <a:p>
            <a:pPr>
              <a:defRPr sz="1000">
                <a:solidFill>
                  <a:srgbClr val="8B949E"/>
                </a:solidFill>
              </a:defRPr>
            </a:pPr>
            <a:r>
              <a:t>CHECK (tenth_pct BETWEEN 0 AND 100) &amp; CHECK (backlogs &gt;= 0).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105156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b="1" sz="1200">
                <a:solidFill>
                  <a:srgbClr val="00D4FF"/>
                </a:solidFill>
              </a:defRPr>
            </a:pPr>
            <a:r>
              <a:t>•  Ordered sequential rounds</a:t>
            </a:r>
          </a:p>
          <a:p>
            <a:pPr>
              <a:defRPr sz="1000">
                <a:solidFill>
                  <a:srgbClr val="8B949E"/>
                </a:solidFill>
              </a:defRPr>
            </a:pPr>
            <a:r>
              <a:t>CHECK (sequence_no &gt; 0) + UNIQUE (drive_id, sequence_no) on Round table.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931920"/>
            <a:ext cx="5120640" cy="105156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b="1" sz="1200">
                <a:solidFill>
                  <a:srgbClr val="00D4FF"/>
                </a:solidFill>
              </a:defRPr>
            </a:pPr>
            <a:r>
              <a:t>•  Restricted lifecycle status values</a:t>
            </a:r>
          </a:p>
          <a:p>
            <a:pPr>
              <a:defRPr sz="1000">
                <a:solidFill>
                  <a:srgbClr val="8B949E"/>
                </a:solidFill>
              </a:defRPr>
            </a:pPr>
            <a:r>
              <a:t>CHECK constraints enforcing valid enum values ('Applied', 'Pass', 'Fail', 'Offered').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74920"/>
            <a:ext cx="5120640" cy="105156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b="1" sz="1200">
                <a:solidFill>
                  <a:srgbClr val="00D4FF"/>
                </a:solidFill>
              </a:defRPr>
            </a:pPr>
            <a:r>
              <a:t>•  Pre-application eligibility validation</a:t>
            </a:r>
          </a:p>
          <a:p>
            <a:pPr>
              <a:defRPr sz="1000">
                <a:solidFill>
                  <a:srgbClr val="8B949E"/>
                </a:solidFill>
              </a:defRPr>
            </a:pPr>
            <a:r>
              <a:t>Verified in database view &amp; application logic before allowing record insertion.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5074920"/>
            <a:ext cx="5120640" cy="105156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300"/>
              </a:spcAft>
              <a:defRPr b="1" sz="1200">
                <a:solidFill>
                  <a:srgbClr val="00D4FF"/>
                </a:solidFill>
              </a:defRPr>
            </a:pPr>
            <a:r>
              <a:t>•  Referential integrity guarantee</a:t>
            </a:r>
          </a:p>
          <a:p>
            <a:pPr>
              <a:defRPr sz="1000">
                <a:solidFill>
                  <a:srgbClr val="8B949E"/>
                </a:solidFill>
              </a:defRPr>
            </a:pPr>
            <a:r>
              <a:t>FOREIGN KEY constraints configured with appropriate ON DELETE CASCADE/RESTRICT rules.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4FF"/>
                </a:solidFill>
              </a:defRPr>
            </a:pPr>
            <a:r>
              <a:t>CAMPUS PLACEMENT SYSTEM  |  PROJECT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0F6FC"/>
                </a:solidFill>
              </a:defRPr>
            </a:pPr>
            <a:r>
              <a:t>Conclusion &amp; Future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600" b="1">
                <a:solidFill>
                  <a:srgbClr val="00D4FF"/>
                </a:solidFill>
              </a:defRPr>
            </a:pPr>
            <a:r>
              <a:t>What This Project Delivers</a:t>
            </a:r>
          </a:p>
          <a:p>
            <a:pPr>
              <a:spcAft>
                <a:spcPts val="400"/>
              </a:spcAft>
              <a:defRPr sz="1100">
                <a:solidFill>
                  <a:srgbClr val="8B949E"/>
                </a:solidFill>
              </a:defRPr>
            </a:pPr>
            <a:r>
              <a:t>✔  Rigorous problem statement &amp; user domain requirements</a:t>
            </a:r>
          </a:p>
          <a:p>
            <a:pPr>
              <a:spcAft>
                <a:spcPts val="400"/>
              </a:spcAft>
              <a:defRPr sz="1100">
                <a:solidFill>
                  <a:srgbClr val="8B949E"/>
                </a:solidFill>
              </a:defRPr>
            </a:pPr>
            <a:r>
              <a:t>✔  Comprehensive 13-entity ER conceptual data model</a:t>
            </a:r>
          </a:p>
          <a:p>
            <a:pPr>
              <a:spcAft>
                <a:spcPts val="400"/>
              </a:spcAft>
              <a:defRPr sz="1100">
                <a:solidFill>
                  <a:srgbClr val="8B949E"/>
                </a:solidFill>
              </a:defRPr>
            </a:pPr>
            <a:r>
              <a:t>✔  Normalized 3NF relational schema with foreign key mapping</a:t>
            </a:r>
          </a:p>
          <a:p>
            <a:pPr>
              <a:spcAft>
                <a:spcPts val="400"/>
              </a:spcAft>
              <a:defRPr sz="1100">
                <a:solidFill>
                  <a:srgbClr val="8B949E"/>
                </a:solidFill>
              </a:defRPr>
            </a:pPr>
            <a:r>
              <a:t>✔  Strict business rules enforced via database constraints</a:t>
            </a:r>
          </a:p>
          <a:p>
            <a:pPr>
              <a:spcAft>
                <a:spcPts val="400"/>
              </a:spcAft>
              <a:defRPr sz="1100">
                <a:solidFill>
                  <a:srgbClr val="8B949E"/>
                </a:solidFill>
              </a:defRPr>
            </a:pPr>
            <a:r>
              <a:t>✔  Live SQLite database (.db/campusconnect.db) with DB Browser sync</a:t>
            </a:r>
          </a:p>
          <a:p>
            <a:pPr>
              <a:spcAft>
                <a:spcPts val="400"/>
              </a:spcAft>
              <a:defRPr sz="1100">
                <a:solidFill>
                  <a:srgbClr val="8B949E"/>
                </a:solidFill>
              </a:defRPr>
            </a:pPr>
            <a:r>
              <a:t>✔  Integrated web interface covering student, recruiter, and officer roles</a:t>
            </a:r>
          </a:p>
          <a:p>
            <a:pPr>
              <a:spcAft>
                <a:spcPts val="400"/>
              </a:spcAft>
              <a:defRPr sz="1100">
                <a:solidFill>
                  <a:srgbClr val="8B949E"/>
                </a:solidFill>
              </a:defRPr>
            </a:pPr>
            <a:r>
              <a:t>✔  Complete submission-ready deliverables for Reviews 1, 2, and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600" b="1">
                <a:solidFill>
                  <a:srgbClr val="8B5CF6"/>
                </a:solidFill>
              </a:defRPr>
            </a:pPr>
            <a:r>
              <a:t>Future Roadmap &amp; Enhancements</a:t>
            </a:r>
          </a:p>
          <a:p>
            <a:pPr>
              <a:spcAft>
                <a:spcPts val="600"/>
              </a:spcAft>
              <a:defRPr sz="1100">
                <a:solidFill>
                  <a:srgbClr val="8B949E"/>
                </a:solidFill>
              </a:defRPr>
            </a:pPr>
            <a:r>
              <a:t>🚀  Automated email &amp; SMS notifications for drive rounds and offers</a:t>
            </a:r>
          </a:p>
          <a:p>
            <a:pPr>
              <a:spcAft>
                <a:spcPts val="600"/>
              </a:spcAft>
              <a:defRPr sz="1100">
                <a:solidFill>
                  <a:srgbClr val="8B949E"/>
                </a:solidFill>
              </a:defRPr>
            </a:pPr>
            <a:r>
              <a:t>🚀  AI-powered resume &amp; skill-matching engine for automated shortlists</a:t>
            </a:r>
          </a:p>
          <a:p>
            <a:pPr>
              <a:spcAft>
                <a:spcPts val="600"/>
              </a:spcAft>
              <a:defRPr sz="1100">
                <a:solidFill>
                  <a:srgbClr val="8B949E"/>
                </a:solidFill>
              </a:defRPr>
            </a:pPr>
            <a:r>
              <a:t>🚀  Direct integration with enterprise recruiter portals &amp; ATS</a:t>
            </a:r>
          </a:p>
          <a:p>
            <a:pPr>
              <a:spcAft>
                <a:spcPts val="600"/>
              </a:spcAft>
              <a:defRPr sz="1100">
                <a:solidFill>
                  <a:srgbClr val="8B949E"/>
                </a:solidFill>
              </a:defRPr>
            </a:pPr>
            <a:r>
              <a:t>🚀  Interactive analytics dashboards with historical season trends</a:t>
            </a:r>
          </a:p>
          <a:p>
            <a:pPr>
              <a:spcAft>
                <a:spcPts val="600"/>
              </a:spcAft>
              <a:defRPr sz="1100">
                <a:solidFill>
                  <a:srgbClr val="8B949E"/>
                </a:solidFill>
              </a:defRPr>
            </a:pPr>
            <a:r>
              <a:t>🚀  Mobile application for push notifications and instant offer acceptance</a:t>
            </a:r>
          </a:p>
          <a:p>
            <a:pPr>
              <a:spcAft>
                <a:spcPts val="600"/>
              </a:spcAft>
              <a:defRPr sz="1100">
                <a:solidFill>
                  <a:srgbClr val="8B949E"/>
                </a:solidFill>
              </a:defRPr>
            </a:pPr>
            <a:r>
              <a:t>🚀  Multi-college federation support for centralized university placement</a:t>
            </a:r>
          </a:p>
          <a:p>
            <a:br/>
            <a:pPr>
              <a:defRPr sz="1300" b="1">
                <a:solidFill>
                  <a:srgbClr val="F0F6FC"/>
                </a:solidFill>
              </a:defRPr>
            </a:pPr>
            <a:r>
              <a:t>Thank you! Questions are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